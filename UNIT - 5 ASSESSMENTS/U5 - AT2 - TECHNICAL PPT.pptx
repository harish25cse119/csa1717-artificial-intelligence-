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77" r:id="rId3"/>
    <p:sldId id="265" r:id="rId4"/>
    <p:sldId id="273" r:id="rId5"/>
    <p:sldId id="276" r:id="rId6"/>
    <p:sldId id="275" r:id="rId7"/>
    <p:sldId id="274" r:id="rId8"/>
    <p:sldId id="278" r:id="rId9"/>
    <p:sldId id="281" r:id="rId10"/>
    <p:sldId id="279" r:id="rId11"/>
    <p:sldId id="280" r:id="rId12"/>
    <p:sldId id="282"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IMATS ENGINEERING —BIOTECHNOLOGY">
            <a:extLst>
              <a:ext uri="{FF2B5EF4-FFF2-40B4-BE49-F238E27FC236}">
                <a16:creationId xmlns:a16="http://schemas.microsoft.com/office/drawing/2014/main" id="{B6992482-AEE3-D9DE-6440-26794DDA77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63513"/>
            <a:ext cx="9351069" cy="12031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051C69-0C7A-8864-481A-3557367E597F}"/>
              </a:ext>
            </a:extLst>
          </p:cNvPr>
          <p:cNvSpPr txBox="1"/>
          <p:nvPr/>
        </p:nvSpPr>
        <p:spPr>
          <a:xfrm>
            <a:off x="1699022" y="2269030"/>
            <a:ext cx="8327923"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CSA1717- ARTIFICIAL INTELLIGENCE</a:t>
            </a:r>
          </a:p>
        </p:txBody>
      </p:sp>
      <p:sp>
        <p:nvSpPr>
          <p:cNvPr id="7" name="TextBox 6">
            <a:extLst>
              <a:ext uri="{FF2B5EF4-FFF2-40B4-BE49-F238E27FC236}">
                <a16:creationId xmlns:a16="http://schemas.microsoft.com/office/drawing/2014/main" id="{90B4075F-63BE-824D-8271-33E83B622D31}"/>
              </a:ext>
            </a:extLst>
          </p:cNvPr>
          <p:cNvSpPr txBox="1"/>
          <p:nvPr/>
        </p:nvSpPr>
        <p:spPr>
          <a:xfrm>
            <a:off x="1699022" y="2986706"/>
            <a:ext cx="8327922" cy="1307537"/>
          </a:xfrm>
          <a:prstGeom prst="rect">
            <a:avLst/>
          </a:prstGeom>
          <a:noFill/>
        </p:spPr>
        <p:txBody>
          <a:bodyPr wrap="square">
            <a:spAutoFit/>
          </a:bodyPr>
          <a:lstStyle/>
          <a:p>
            <a:pPr algn="ctr">
              <a:lnSpc>
                <a:spcPct val="150000"/>
              </a:lnSpc>
            </a:pPr>
            <a:r>
              <a:rPr lang="en-US" sz="2800" b="1" dirty="0">
                <a:latin typeface="Times New Roman" panose="02020603050405020304" pitchFamily="18" charset="0"/>
                <a:cs typeface="Times New Roman" panose="02020603050405020304" pitchFamily="18" charset="0"/>
              </a:rPr>
              <a:t>Reactive Agent-Based Traffic Control System</a:t>
            </a:r>
          </a:p>
          <a:p>
            <a:pPr algn="ctr">
              <a:lnSpc>
                <a:spcPct val="150000"/>
              </a:lnSpc>
            </a:pPr>
            <a:endParaRPr lang="en-IN"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3BAEE3E-A642-7ABA-F36E-137DD7696EAC}"/>
              </a:ext>
            </a:extLst>
          </p:cNvPr>
          <p:cNvSpPr txBox="1"/>
          <p:nvPr/>
        </p:nvSpPr>
        <p:spPr>
          <a:xfrm>
            <a:off x="216310" y="4903163"/>
            <a:ext cx="6096000" cy="179132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PRESENTED BY</a:t>
            </a:r>
          </a:p>
          <a:p>
            <a:pPr>
              <a:lnSpc>
                <a:spcPct val="150000"/>
              </a:lnSpc>
            </a:pPr>
            <a:r>
              <a:rPr lang="en-US" sz="2000" dirty="0">
                <a:latin typeface="Times New Roman" panose="02020603050405020304" pitchFamily="18" charset="0"/>
                <a:cs typeface="Times New Roman" panose="02020603050405020304" pitchFamily="18" charset="0"/>
              </a:rPr>
              <a:t>S Harish </a:t>
            </a:r>
          </a:p>
          <a:p>
            <a:pPr>
              <a:lnSpc>
                <a:spcPct val="150000"/>
              </a:lnSpc>
            </a:pPr>
            <a:r>
              <a:rPr lang="en-US" sz="2000" dirty="0">
                <a:latin typeface="Times New Roman" panose="02020603050405020304" pitchFamily="18" charset="0"/>
                <a:cs typeface="Times New Roman" panose="02020603050405020304" pitchFamily="18" charset="0"/>
              </a:rPr>
              <a:t>C Joseph Jeswin </a:t>
            </a:r>
          </a:p>
          <a:p>
            <a:pPr>
              <a:lnSpc>
                <a:spcPct val="150000"/>
              </a:lnSpc>
            </a:pPr>
            <a:r>
              <a:rPr lang="en-US" sz="2000" dirty="0">
                <a:latin typeface="Times New Roman" panose="02020603050405020304" pitchFamily="18" charset="0"/>
                <a:cs typeface="Times New Roman" panose="02020603050405020304" pitchFamily="18" charset="0"/>
              </a:rPr>
              <a:t>S Jerlin Sylvester </a:t>
            </a:r>
          </a:p>
        </p:txBody>
      </p:sp>
      <p:sp>
        <p:nvSpPr>
          <p:cNvPr id="11" name="TextBox 10">
            <a:extLst>
              <a:ext uri="{FF2B5EF4-FFF2-40B4-BE49-F238E27FC236}">
                <a16:creationId xmlns:a16="http://schemas.microsoft.com/office/drawing/2014/main" id="{54A7AA83-0AB6-4321-8474-E5C35E61805F}"/>
              </a:ext>
            </a:extLst>
          </p:cNvPr>
          <p:cNvSpPr txBox="1"/>
          <p:nvPr/>
        </p:nvSpPr>
        <p:spPr>
          <a:xfrm>
            <a:off x="8622891" y="4896067"/>
            <a:ext cx="6096000" cy="1200329"/>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GUIDED BY</a:t>
            </a:r>
          </a:p>
          <a:p>
            <a:r>
              <a:rPr lang="en-IN" sz="2400" dirty="0">
                <a:latin typeface="Times New Roman" panose="02020603050405020304" pitchFamily="18" charset="0"/>
                <a:cs typeface="Times New Roman" panose="02020603050405020304" pitchFamily="18" charset="0"/>
              </a:rPr>
              <a:t>Dr. M. Anoop</a:t>
            </a:r>
          </a:p>
          <a:p>
            <a:r>
              <a:rPr lang="en-IN" sz="2400" dirty="0">
                <a:latin typeface="Times New Roman" panose="02020603050405020304" pitchFamily="18" charset="0"/>
                <a:cs typeface="Times New Roman" panose="02020603050405020304" pitchFamily="18" charset="0"/>
              </a:rPr>
              <a:t>Associate Professor</a:t>
            </a:r>
          </a:p>
        </p:txBody>
      </p:sp>
    </p:spTree>
    <p:extLst>
      <p:ext uri="{BB962C8B-B14F-4D97-AF65-F5344CB8AC3E}">
        <p14:creationId xmlns:p14="http://schemas.microsoft.com/office/powerpoint/2010/main" val="218330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38B59-154C-F8A3-2064-81BEC80C8CBA}"/>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D8CF53A9-8D77-4A48-A3C5-8F65A0A52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39A0309E-A538-739A-CB9A-7D0436DDB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1AB95C6-3A11-1099-574D-E632FD7FFBFB}"/>
              </a:ext>
            </a:extLst>
          </p:cNvPr>
          <p:cNvSpPr txBox="1"/>
          <p:nvPr/>
        </p:nvSpPr>
        <p:spPr>
          <a:xfrm>
            <a:off x="2576051" y="395437"/>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A</a:t>
            </a:r>
            <a:r>
              <a:rPr lang="en-IN" sz="2800" b="1" dirty="0">
                <a:latin typeface="Times New Roman" panose="02020603050405020304" pitchFamily="18" charset="0"/>
                <a:cs typeface="Times New Roman" panose="02020603050405020304" pitchFamily="18" charset="0"/>
              </a:rPr>
              <a:t>BSTRACT</a:t>
            </a:r>
          </a:p>
        </p:txBody>
      </p:sp>
      <p:sp>
        <p:nvSpPr>
          <p:cNvPr id="4" name="TextBox 3">
            <a:extLst>
              <a:ext uri="{FF2B5EF4-FFF2-40B4-BE49-F238E27FC236}">
                <a16:creationId xmlns:a16="http://schemas.microsoft.com/office/drawing/2014/main" id="{62B20E74-EE0B-E2E2-FB9C-D33017F6F33F}"/>
              </a:ext>
            </a:extLst>
          </p:cNvPr>
          <p:cNvSpPr txBox="1"/>
          <p:nvPr/>
        </p:nvSpPr>
        <p:spPr>
          <a:xfrm>
            <a:off x="1514168" y="1810092"/>
            <a:ext cx="7924800" cy="603864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Reactive Agent-Based Traffic Control System is designed to reduce traffic congestion using real-time traffic data. Sensors detect the number of vehicles and traffic density on each road. A reactive agent analyzes this data and automatically changes the traffic signal timing. Roads with more traffic get longer green time, while roads with less traffic get shorter green time. This helps reduce waiting time, improve traffic flow, and make the traffic system more efficient.</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4EC0A46-E3EF-ECEF-3C67-4E7E5D39D251}"/>
              </a:ext>
            </a:extLst>
          </p:cNvPr>
          <p:cNvPicPr>
            <a:picLocks noChangeAspect="1"/>
          </p:cNvPicPr>
          <p:nvPr/>
        </p:nvPicPr>
        <p:blipFill>
          <a:blip r:embed="rId4"/>
          <a:stretch>
            <a:fillRect/>
          </a:stretch>
        </p:blipFill>
        <p:spPr>
          <a:xfrm>
            <a:off x="9721657" y="1933052"/>
            <a:ext cx="2151707" cy="3455026"/>
          </a:xfrm>
          <a:prstGeom prst="rect">
            <a:avLst/>
          </a:prstGeom>
        </p:spPr>
      </p:pic>
    </p:spTree>
    <p:extLst>
      <p:ext uri="{BB962C8B-B14F-4D97-AF65-F5344CB8AC3E}">
        <p14:creationId xmlns:p14="http://schemas.microsoft.com/office/powerpoint/2010/main" val="42383399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7294A974-492D-833F-4939-780D4C0596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D0D8A957-8219-838D-0830-091B9979F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26C1688-2D2D-0EF0-99E4-14E6674FE309}"/>
              </a:ext>
            </a:extLst>
          </p:cNvPr>
          <p:cNvSpPr txBox="1"/>
          <p:nvPr/>
        </p:nvSpPr>
        <p:spPr>
          <a:xfrm>
            <a:off x="2925142" y="363793"/>
            <a:ext cx="6096000" cy="523220"/>
          </a:xfrm>
          <a:prstGeom prst="rect">
            <a:avLst/>
          </a:prstGeom>
          <a:noFill/>
        </p:spPr>
        <p:txBody>
          <a:bodyPr wrap="square">
            <a:spAutoFit/>
          </a:bodyPr>
          <a:lstStyle/>
          <a:p>
            <a:pPr algn="ctr">
              <a:defRPr sz="2800" b="1">
                <a:latin typeface="Aptos Display"/>
              </a:defRPr>
            </a:pPr>
            <a:r>
              <a:rPr lang="en-US" sz="2800" dirty="0">
                <a:latin typeface="Times New Roman" panose="02020603050405020304" pitchFamily="18" charset="0"/>
                <a:cs typeface="Times New Roman" panose="02020603050405020304" pitchFamily="18" charset="0"/>
              </a:rPr>
              <a:t>I</a:t>
            </a:r>
            <a:r>
              <a:rPr lang="en-IN" sz="2800" dirty="0">
                <a:latin typeface="Times New Roman" panose="02020603050405020304" pitchFamily="18" charset="0"/>
                <a:cs typeface="Times New Roman" panose="02020603050405020304" pitchFamily="18" charset="0"/>
              </a:rPr>
              <a:t>NTRODUCTION</a:t>
            </a:r>
          </a:p>
        </p:txBody>
      </p:sp>
      <p:sp>
        <p:nvSpPr>
          <p:cNvPr id="4" name="TextBox 3">
            <a:extLst>
              <a:ext uri="{FF2B5EF4-FFF2-40B4-BE49-F238E27FC236}">
                <a16:creationId xmlns:a16="http://schemas.microsoft.com/office/drawing/2014/main" id="{0002A493-7092-7FC1-ADFA-CE5CAC472CA4}"/>
              </a:ext>
            </a:extLst>
          </p:cNvPr>
          <p:cNvSpPr txBox="1"/>
          <p:nvPr/>
        </p:nvSpPr>
        <p:spPr>
          <a:xfrm>
            <a:off x="1199535" y="2018541"/>
            <a:ext cx="9792929" cy="4653646"/>
          </a:xfrm>
          <a:prstGeom prst="rect">
            <a:avLst/>
          </a:prstGeom>
          <a:noFill/>
        </p:spPr>
        <p:txBody>
          <a:bodyPr wrap="square">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What is a Reactive Agent?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reactive agent responds immediately to changes in its environment.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continuously monitors real-time traffic conditions.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makes decisions using current traffic data.</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 complex long-term planning is required.</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main goal is to reduce congestion and improve traffic flow.</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Example: If one road becomes heavily congested, the agent can increase its green-signal duration.</a:t>
            </a:r>
          </a:p>
          <a:p>
            <a:pPr algn="just">
              <a:lnSpc>
                <a:spcPct val="150000"/>
              </a:lnSpc>
            </a:pP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9CE86E1-8E47-CBB3-B77F-E5189B0B3D27}"/>
              </a:ext>
            </a:extLst>
          </p:cNvPr>
          <p:cNvPicPr>
            <a:picLocks noChangeAspect="1"/>
          </p:cNvPicPr>
          <p:nvPr/>
        </p:nvPicPr>
        <p:blipFill>
          <a:blip r:embed="rId4"/>
          <a:stretch>
            <a:fillRect/>
          </a:stretch>
        </p:blipFill>
        <p:spPr>
          <a:xfrm>
            <a:off x="9883755" y="1618367"/>
            <a:ext cx="1827512" cy="3169944"/>
          </a:xfrm>
          <a:prstGeom prst="rect">
            <a:avLst/>
          </a:prstGeom>
        </p:spPr>
      </p:pic>
    </p:spTree>
    <p:extLst>
      <p:ext uri="{BB962C8B-B14F-4D97-AF65-F5344CB8AC3E}">
        <p14:creationId xmlns:p14="http://schemas.microsoft.com/office/powerpoint/2010/main" val="1615875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5DD8-D6A6-ED73-866E-6E6797C56B87}"/>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B728CE29-88E3-40CB-C7E3-C0F0BC5D8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DB575D4D-EB12-0CF9-8C0C-AF38E7B8C7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BA1B962-496C-432F-6013-772680E4E3D0}"/>
              </a:ext>
            </a:extLst>
          </p:cNvPr>
          <p:cNvSpPr txBox="1"/>
          <p:nvPr/>
        </p:nvSpPr>
        <p:spPr>
          <a:xfrm>
            <a:off x="2576051" y="395437"/>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OBJECTIVES</a:t>
            </a:r>
            <a:endParaRPr lang="en-IN" sz="28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E1A88BD-2E1A-241F-583A-135B588B05C2}"/>
              </a:ext>
            </a:extLst>
          </p:cNvPr>
          <p:cNvSpPr txBox="1"/>
          <p:nvPr/>
        </p:nvSpPr>
        <p:spPr>
          <a:xfrm>
            <a:off x="1868128" y="1930708"/>
            <a:ext cx="8819535" cy="465364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traffic in real time using sensors, cameras, and IoT devices.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 traffic congestion by analyzing vehicle density and queue length.</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Make instant decisions using a reactive agent based on current traffic conditions.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Dynamically control traffic signals by adjusting green-light duration.</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 vehicle waiting time and queue length at intersections.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Give priority to emergency vehicles when detected.</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Process continuous streaming data for fast and adaptive traffic management.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 overall traffic flow and reduce fuel consumption and unnecessary delays.</a:t>
            </a:r>
          </a:p>
          <a:p>
            <a:pPr algn="just">
              <a:lnSpc>
                <a:spcPct val="150000"/>
              </a:lnSpc>
            </a:pP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432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73EF7-8C2C-B8C1-C2DF-3E3402B83137}"/>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E88641F8-32FC-EA83-5E38-78F1CD240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63C94D59-450A-EDFA-6CDF-1EA06D557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86CD6C6-5556-0DD3-2680-3EDEBD60A57A}"/>
              </a:ext>
            </a:extLst>
          </p:cNvPr>
          <p:cNvSpPr txBox="1"/>
          <p:nvPr/>
        </p:nvSpPr>
        <p:spPr>
          <a:xfrm>
            <a:off x="2802193" y="395437"/>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PROBLEM STATEMENT</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878E82B-396C-E353-09DC-15E4EED343F1}"/>
              </a:ext>
            </a:extLst>
          </p:cNvPr>
          <p:cNvSpPr txBox="1"/>
          <p:nvPr/>
        </p:nvSpPr>
        <p:spPr>
          <a:xfrm>
            <a:off x="1653511" y="1597175"/>
            <a:ext cx="9144000" cy="4653646"/>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Traditional traffic signals generally use fixed timing.</a:t>
            </a:r>
          </a:p>
          <a:p>
            <a:pPr algn="just">
              <a:lnSpc>
                <a:spcPct val="150000"/>
              </a:lnSpc>
            </a:pPr>
            <a:r>
              <a:rPr lang="en-US" sz="2000" b="1" dirty="0">
                <a:latin typeface="Times New Roman" panose="02020603050405020304" pitchFamily="18" charset="0"/>
                <a:cs typeface="Times New Roman" panose="02020603050405020304" pitchFamily="18" charset="0"/>
              </a:rPr>
              <a:t>Problems: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Signals do not respond to actual traffic volume.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Empty roads may receive unnecessary green time.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Heavy traffic can create long queues.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Emergency vehicles may face delays.</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Traffic congestion increases fuel consumption and travel time.</a:t>
            </a:r>
          </a:p>
          <a:p>
            <a:pPr>
              <a:lnSpc>
                <a:spcPct val="150000"/>
              </a:lnSpc>
            </a:pPr>
            <a:r>
              <a:rPr lang="en-US" sz="2000" b="1" dirty="0">
                <a:latin typeface="Times New Roman" panose="02020603050405020304" pitchFamily="18" charset="0"/>
                <a:cs typeface="Times New Roman" panose="02020603050405020304" pitchFamily="18" charset="0"/>
              </a:rPr>
              <a:t>Solution:</a:t>
            </a: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Use a Reactive Agent that dynamically changes traffic signals based on live traffic conditions.</a:t>
            </a:r>
          </a:p>
        </p:txBody>
      </p:sp>
      <p:pic>
        <p:nvPicPr>
          <p:cNvPr id="8" name="Picture 7">
            <a:extLst>
              <a:ext uri="{FF2B5EF4-FFF2-40B4-BE49-F238E27FC236}">
                <a16:creationId xmlns:a16="http://schemas.microsoft.com/office/drawing/2014/main" id="{8236E485-ED04-4657-9793-FC21A81CABB0}"/>
              </a:ext>
            </a:extLst>
          </p:cNvPr>
          <p:cNvPicPr>
            <a:picLocks noChangeAspect="1"/>
          </p:cNvPicPr>
          <p:nvPr/>
        </p:nvPicPr>
        <p:blipFill>
          <a:blip r:embed="rId4"/>
          <a:stretch>
            <a:fillRect/>
          </a:stretch>
        </p:blipFill>
        <p:spPr>
          <a:xfrm>
            <a:off x="9256851" y="1766687"/>
            <a:ext cx="1980107" cy="3324625"/>
          </a:xfrm>
          <a:prstGeom prst="rect">
            <a:avLst/>
          </a:prstGeom>
        </p:spPr>
      </p:pic>
    </p:spTree>
    <p:extLst>
      <p:ext uri="{BB962C8B-B14F-4D97-AF65-F5344CB8AC3E}">
        <p14:creationId xmlns:p14="http://schemas.microsoft.com/office/powerpoint/2010/main" val="3613129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14706-4C26-0099-95E0-7C72CA2A4CD3}"/>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9A631DC0-AEBC-660D-9ACF-A64E21DC9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ED70D316-13B1-7289-F6E2-D72308AE59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46ED8E-FF87-F267-417C-6330B7B20956}"/>
              </a:ext>
            </a:extLst>
          </p:cNvPr>
          <p:cNvSpPr txBox="1"/>
          <p:nvPr/>
        </p:nvSpPr>
        <p:spPr>
          <a:xfrm>
            <a:off x="2713703" y="203521"/>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a:t>
            </a:r>
            <a:r>
              <a:rPr lang="en-IN" sz="2800" b="1" dirty="0">
                <a:latin typeface="Times New Roman" panose="02020603050405020304" pitchFamily="18" charset="0"/>
                <a:cs typeface="Times New Roman" panose="02020603050405020304" pitchFamily="18" charset="0"/>
              </a:rPr>
              <a:t>YSTEM ARCHITECTURE</a:t>
            </a:r>
          </a:p>
        </p:txBody>
      </p:sp>
      <p:sp>
        <p:nvSpPr>
          <p:cNvPr id="4" name="TextBox 3">
            <a:extLst>
              <a:ext uri="{FF2B5EF4-FFF2-40B4-BE49-F238E27FC236}">
                <a16:creationId xmlns:a16="http://schemas.microsoft.com/office/drawing/2014/main" id="{412EB4AE-6102-C397-50C4-8528C0DB0EC5}"/>
              </a:ext>
            </a:extLst>
          </p:cNvPr>
          <p:cNvSpPr txBox="1"/>
          <p:nvPr/>
        </p:nvSpPr>
        <p:spPr>
          <a:xfrm>
            <a:off x="1730476" y="998447"/>
            <a:ext cx="8957187" cy="5859553"/>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Main Components:</a:t>
            </a:r>
          </a:p>
          <a:p>
            <a:pPr marL="34290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Traffic Sensors: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Cameras.</a:t>
            </a:r>
          </a:p>
          <a:p>
            <a:pPr marL="342900" indent="-342900">
              <a:lnSpc>
                <a:spcPct val="150000"/>
              </a:lnSpc>
              <a:buFont typeface="+mj-lt"/>
              <a:buAutoNum type="arabicPeriod" startAt="2"/>
            </a:pPr>
            <a:r>
              <a:rPr lang="en-IN" b="1" dirty="0">
                <a:latin typeface="Times New Roman" panose="02020603050405020304" pitchFamily="18" charset="0"/>
                <a:cs typeface="Times New Roman" panose="02020603050405020304" pitchFamily="18" charset="0"/>
              </a:rPr>
              <a:t>Streaming Data Layer</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Continuously receives traffic information.</a:t>
            </a:r>
          </a:p>
          <a:p>
            <a:pPr marL="342900" indent="-342900">
              <a:lnSpc>
                <a:spcPct val="150000"/>
              </a:lnSpc>
              <a:buFont typeface="+mj-lt"/>
              <a:buAutoNum type="arabicPeriod" startAt="3"/>
            </a:pPr>
            <a:r>
              <a:rPr lang="en-IN" b="1" dirty="0">
                <a:latin typeface="Times New Roman" panose="02020603050405020304" pitchFamily="18" charset="0"/>
                <a:cs typeface="Times New Roman" panose="02020603050405020304" pitchFamily="18" charset="0"/>
              </a:rPr>
              <a:t>Reactive Agent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Processes current traffic conditions.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Applies predefined decision rules.</a:t>
            </a:r>
          </a:p>
          <a:p>
            <a:pPr marL="342900" indent="-342900">
              <a:lnSpc>
                <a:spcPct val="150000"/>
              </a:lnSpc>
              <a:buFont typeface="+mj-lt"/>
              <a:buAutoNum type="arabicPeriod" startAt="4"/>
            </a:pPr>
            <a:r>
              <a:rPr lang="en-IN" b="1" dirty="0">
                <a:latin typeface="Times New Roman" panose="02020603050405020304" pitchFamily="18" charset="0"/>
                <a:cs typeface="Times New Roman" panose="02020603050405020304" pitchFamily="18" charset="0"/>
              </a:rPr>
              <a:t>Traffic Signal Controller</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Changes red, yellow and green signals.</a:t>
            </a:r>
          </a:p>
          <a:p>
            <a:pPr marL="342900" indent="-342900">
              <a:lnSpc>
                <a:spcPct val="150000"/>
              </a:lnSpc>
              <a:buFont typeface="+mj-lt"/>
              <a:buAutoNum type="arabicPeriod" startAt="5"/>
            </a:pPr>
            <a:r>
              <a:rPr lang="en-IN" b="1" dirty="0">
                <a:latin typeface="Times New Roman" panose="02020603050405020304" pitchFamily="18" charset="0"/>
                <a:cs typeface="Times New Roman" panose="02020603050405020304" pitchFamily="18" charset="0"/>
              </a:rPr>
              <a:t>Monitoring Dashboard</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traffic conditions and signal status.</a:t>
            </a:r>
          </a:p>
          <a:p>
            <a:pPr>
              <a:lnSpc>
                <a:spcPct val="150000"/>
              </a:lnSpc>
            </a:pPr>
            <a:r>
              <a:rPr lang="en-IN" b="1" dirty="0">
                <a:latin typeface="Times New Roman" panose="02020603050405020304" pitchFamily="18" charset="0"/>
                <a:cs typeface="Times New Roman" panose="02020603050405020304" pitchFamily="18" charset="0"/>
              </a:rPr>
              <a:t>Flow:</a:t>
            </a:r>
          </a:p>
          <a:p>
            <a:pPr>
              <a:lnSpc>
                <a:spcPct val="150000"/>
              </a:lnSpc>
            </a:pPr>
            <a:r>
              <a:rPr lang="en-IN" dirty="0">
                <a:latin typeface="Times New Roman" panose="02020603050405020304" pitchFamily="18" charset="0"/>
                <a:cs typeface="Times New Roman" panose="02020603050405020304" pitchFamily="18" charset="0"/>
              </a:rPr>
              <a:t>Sensors → Streaming Data → Reactive Agent → Signal Controller → Traffic Flow</a:t>
            </a:r>
          </a:p>
        </p:txBody>
      </p:sp>
      <p:pic>
        <p:nvPicPr>
          <p:cNvPr id="8" name="Picture 7">
            <a:extLst>
              <a:ext uri="{FF2B5EF4-FFF2-40B4-BE49-F238E27FC236}">
                <a16:creationId xmlns:a16="http://schemas.microsoft.com/office/drawing/2014/main" id="{B5E59745-A465-4EA1-B867-43254D25B761}"/>
              </a:ext>
            </a:extLst>
          </p:cNvPr>
          <p:cNvPicPr>
            <a:picLocks noChangeAspect="1"/>
          </p:cNvPicPr>
          <p:nvPr/>
        </p:nvPicPr>
        <p:blipFill>
          <a:blip r:embed="rId4"/>
          <a:stretch>
            <a:fillRect/>
          </a:stretch>
        </p:blipFill>
        <p:spPr>
          <a:xfrm>
            <a:off x="8112841" y="1650705"/>
            <a:ext cx="2466668" cy="3556590"/>
          </a:xfrm>
          <a:prstGeom prst="rect">
            <a:avLst/>
          </a:prstGeom>
        </p:spPr>
      </p:pic>
    </p:spTree>
    <p:extLst>
      <p:ext uri="{BB962C8B-B14F-4D97-AF65-F5344CB8AC3E}">
        <p14:creationId xmlns:p14="http://schemas.microsoft.com/office/powerpoint/2010/main" val="35864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4D222-579F-F0FA-0E6B-971FC8CEFD6C}"/>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0302F64C-BF85-F9AB-9FD8-6EAAD9D00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69BFF90A-A076-D6AC-837D-7697B0A52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3FDA9A5-6BB9-7F36-53DE-6A38208ED0BA}"/>
              </a:ext>
            </a:extLst>
          </p:cNvPr>
          <p:cNvSpPr txBox="1"/>
          <p:nvPr/>
        </p:nvSpPr>
        <p:spPr>
          <a:xfrm>
            <a:off x="2925142" y="240585"/>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REAL-TIME TRAFFIC INPUTS</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1F981F-F050-9EA0-A2A7-F1922A86E204}"/>
              </a:ext>
            </a:extLst>
          </p:cNvPr>
          <p:cNvSpPr txBox="1"/>
          <p:nvPr/>
        </p:nvSpPr>
        <p:spPr>
          <a:xfrm>
            <a:off x="1750143" y="1090880"/>
            <a:ext cx="6096000"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agent receives continuous traffic information such as: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Number of vehicles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Vehicle queue length</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Vehicle arrival rate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Current signal status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Waiting time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Emergency vehicle detection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Pedestrian crossing requests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Example:</a:t>
            </a:r>
          </a:p>
          <a:p>
            <a:pPr>
              <a:lnSpc>
                <a:spcPct val="150000"/>
              </a:lnSpc>
            </a:pPr>
            <a:r>
              <a:rPr lang="en-US" dirty="0">
                <a:latin typeface="Times New Roman" panose="02020603050405020304" pitchFamily="18" charset="0"/>
                <a:cs typeface="Times New Roman" panose="02020603050405020304" pitchFamily="18" charset="0"/>
              </a:rPr>
              <a:t>Lane A = 40 vehicles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Lane B = 10 vehicles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Lane C = 5 vehicles</a:t>
            </a:r>
          </a:p>
          <a:p>
            <a:pPr>
              <a:lnSpc>
                <a:spcPct val="150000"/>
              </a:lnSpc>
            </a:pPr>
            <a:r>
              <a:rPr lang="en-US" dirty="0">
                <a:latin typeface="Times New Roman" panose="02020603050405020304" pitchFamily="18" charset="0"/>
                <a:cs typeface="Times New Roman" panose="02020603050405020304" pitchFamily="18" charset="0"/>
              </a:rPr>
              <a:t>The agent identifies Lane A as the most congested lane.</a:t>
            </a:r>
          </a:p>
        </p:txBody>
      </p:sp>
      <p:pic>
        <p:nvPicPr>
          <p:cNvPr id="8" name="Picture 7">
            <a:extLst>
              <a:ext uri="{FF2B5EF4-FFF2-40B4-BE49-F238E27FC236}">
                <a16:creationId xmlns:a16="http://schemas.microsoft.com/office/drawing/2014/main" id="{7A6779A6-5203-E533-14A9-A86D5042544B}"/>
              </a:ext>
            </a:extLst>
          </p:cNvPr>
          <p:cNvPicPr>
            <a:picLocks noChangeAspect="1"/>
          </p:cNvPicPr>
          <p:nvPr/>
        </p:nvPicPr>
        <p:blipFill>
          <a:blip r:embed="rId4"/>
          <a:stretch>
            <a:fillRect/>
          </a:stretch>
        </p:blipFill>
        <p:spPr>
          <a:xfrm>
            <a:off x="8623451" y="1770094"/>
            <a:ext cx="2103543" cy="3148940"/>
          </a:xfrm>
          <a:prstGeom prst="rect">
            <a:avLst/>
          </a:prstGeom>
        </p:spPr>
      </p:pic>
    </p:spTree>
    <p:extLst>
      <p:ext uri="{BB962C8B-B14F-4D97-AF65-F5344CB8AC3E}">
        <p14:creationId xmlns:p14="http://schemas.microsoft.com/office/powerpoint/2010/main" val="550703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BDD7F-01C2-B65C-C635-8B043520CB92}"/>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27041D30-63A9-6E90-5291-F12D88BC25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B573E4CA-FCFC-EEAD-C785-11C5128837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4925BF1-DFAD-B685-05AB-11311F74486B}"/>
              </a:ext>
            </a:extLst>
          </p:cNvPr>
          <p:cNvSpPr txBox="1"/>
          <p:nvPr/>
        </p:nvSpPr>
        <p:spPr>
          <a:xfrm>
            <a:off x="2925142" y="335796"/>
            <a:ext cx="6096000"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REACTIVE AGENT DECISION PROCESS</a:t>
            </a: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4255AA9-0195-CEAC-E0F1-54C17805FE59}"/>
              </a:ext>
            </a:extLst>
          </p:cNvPr>
          <p:cNvSpPr txBox="1"/>
          <p:nvPr/>
        </p:nvSpPr>
        <p:spPr>
          <a:xfrm>
            <a:off x="1148773" y="1982010"/>
            <a:ext cx="60960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agent follows simple IF–THEN rules:</a:t>
            </a:r>
          </a:p>
        </p:txBody>
      </p:sp>
      <p:graphicFrame>
        <p:nvGraphicFramePr>
          <p:cNvPr id="8" name="Table 7">
            <a:extLst>
              <a:ext uri="{FF2B5EF4-FFF2-40B4-BE49-F238E27FC236}">
                <a16:creationId xmlns:a16="http://schemas.microsoft.com/office/drawing/2014/main" id="{566B00B9-7EB3-A5D5-4D8D-7E3F1261D1CC}"/>
              </a:ext>
            </a:extLst>
          </p:cNvPr>
          <p:cNvGraphicFramePr>
            <a:graphicFrameLocks noGrp="1"/>
          </p:cNvGraphicFramePr>
          <p:nvPr>
            <p:extLst>
              <p:ext uri="{D42A27DB-BD31-4B8C-83A1-F6EECF244321}">
                <p14:modId xmlns:p14="http://schemas.microsoft.com/office/powerpoint/2010/main" val="327124283"/>
              </p:ext>
            </p:extLst>
          </p:nvPr>
        </p:nvGraphicFramePr>
        <p:xfrm>
          <a:off x="1148774" y="2623071"/>
          <a:ext cx="7444620" cy="3108960"/>
        </p:xfrm>
        <a:graphic>
          <a:graphicData uri="http://schemas.openxmlformats.org/drawingml/2006/table">
            <a:tbl>
              <a:tblPr>
                <a:tableStyleId>{35758FB7-9AC5-4552-8A53-C91805E547FA}</a:tableStyleId>
              </a:tblPr>
              <a:tblGrid>
                <a:gridCol w="3626434">
                  <a:extLst>
                    <a:ext uri="{9D8B030D-6E8A-4147-A177-3AD203B41FA5}">
                      <a16:colId xmlns:a16="http://schemas.microsoft.com/office/drawing/2014/main" val="2482841275"/>
                    </a:ext>
                  </a:extLst>
                </a:gridCol>
                <a:gridCol w="3818186">
                  <a:extLst>
                    <a:ext uri="{9D8B030D-6E8A-4147-A177-3AD203B41FA5}">
                      <a16:colId xmlns:a16="http://schemas.microsoft.com/office/drawing/2014/main" val="3050126678"/>
                    </a:ext>
                  </a:extLst>
                </a:gridCol>
              </a:tblGrid>
              <a:tr h="0">
                <a:tc>
                  <a:txBody>
                    <a:bodyPr/>
                    <a:lstStyle/>
                    <a:p>
                      <a:pPr>
                        <a:buNone/>
                      </a:pPr>
                      <a:r>
                        <a:rPr lang="en-IN" sz="2400" dirty="0">
                          <a:latin typeface="Times New Roman" panose="02020603050405020304" pitchFamily="18" charset="0"/>
                          <a:cs typeface="Times New Roman" panose="02020603050405020304" pitchFamily="18" charset="0"/>
                        </a:rPr>
                        <a:t>Traffic 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IN" sz="2400" dirty="0">
                          <a:latin typeface="Times New Roman" panose="02020603050405020304" pitchFamily="18" charset="0"/>
                          <a:cs typeface="Times New Roman" panose="02020603050405020304" pitchFamily="18" charset="0"/>
                        </a:rPr>
                        <a:t>Agent 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92318179"/>
                  </a:ext>
                </a:extLst>
              </a:tr>
              <a:tr h="0">
                <a:tc>
                  <a:txBody>
                    <a:bodyPr/>
                    <a:lstStyle/>
                    <a:p>
                      <a:pPr>
                        <a:buNone/>
                      </a:pPr>
                      <a:r>
                        <a:rPr lang="en-IN" sz="2400" dirty="0">
                          <a:latin typeface="Times New Roman" panose="02020603050405020304" pitchFamily="18" charset="0"/>
                          <a:cs typeface="Times New Roman" panose="02020603050405020304" pitchFamily="18" charset="0"/>
                        </a:rPr>
                        <a:t>Low traffic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Normal signal timing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466327972"/>
                  </a:ext>
                </a:extLst>
              </a:tr>
              <a:tr h="0">
                <a:tc>
                  <a:txBody>
                    <a:bodyPr/>
                    <a:lstStyle/>
                    <a:p>
                      <a:pPr>
                        <a:buNone/>
                      </a:pPr>
                      <a:r>
                        <a:rPr lang="en-IN" sz="2400" dirty="0">
                          <a:latin typeface="Times New Roman" panose="02020603050405020304" pitchFamily="18" charset="0"/>
                          <a:cs typeface="Times New Roman" panose="02020603050405020304" pitchFamily="18" charset="0"/>
                        </a:rPr>
                        <a:t>High traffic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Increase green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3825388427"/>
                  </a:ext>
                </a:extLst>
              </a:tr>
              <a:tr h="0">
                <a:tc>
                  <a:txBody>
                    <a:bodyPr/>
                    <a:lstStyle/>
                    <a:p>
                      <a:pPr>
                        <a:buNone/>
                      </a:pPr>
                      <a:r>
                        <a:rPr lang="en-IN" sz="2400" dirty="0">
                          <a:latin typeface="Times New Roman" panose="02020603050405020304" pitchFamily="18" charset="0"/>
                          <a:cs typeface="Times New Roman" panose="02020603050405020304" pitchFamily="18" charset="0"/>
                        </a:rPr>
                        <a:t>Very high traffic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Give priority to congested 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4064863167"/>
                  </a:ext>
                </a:extLst>
              </a:tr>
              <a:tr h="0">
                <a:tc>
                  <a:txBody>
                    <a:bodyPr/>
                    <a:lstStyle/>
                    <a:p>
                      <a:pPr>
                        <a:buNone/>
                      </a:pPr>
                      <a:r>
                        <a:rPr lang="en-IN" sz="2400">
                          <a:latin typeface="Times New Roman" panose="02020603050405020304" pitchFamily="18" charset="0"/>
                          <a:cs typeface="Times New Roman" panose="02020603050405020304" pitchFamily="18" charset="0"/>
                        </a:rPr>
                        <a:t>Low traffic on current lane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Reduce green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436523153"/>
                  </a:ext>
                </a:extLst>
              </a:tr>
              <a:tr h="0">
                <a:tc>
                  <a:txBody>
                    <a:bodyPr/>
                    <a:lstStyle/>
                    <a:p>
                      <a:pPr>
                        <a:buNone/>
                      </a:pPr>
                      <a:r>
                        <a:rPr lang="en-IN" sz="2400">
                          <a:latin typeface="Times New Roman" panose="02020603050405020304" pitchFamily="18" charset="0"/>
                          <a:cs typeface="Times New Roman" panose="02020603050405020304" pitchFamily="18" charset="0"/>
                        </a:rPr>
                        <a:t>Emergency vehicle detected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IN" sz="2400" dirty="0">
                          <a:latin typeface="Times New Roman" panose="02020603050405020304" pitchFamily="18" charset="0"/>
                          <a:cs typeface="Times New Roman" panose="02020603050405020304" pitchFamily="18" charset="0"/>
                        </a:rPr>
                        <a:t>Give emergency priority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656463267"/>
                  </a:ext>
                </a:extLst>
              </a:tr>
            </a:tbl>
          </a:graphicData>
        </a:graphic>
      </p:graphicFrame>
      <p:pic>
        <p:nvPicPr>
          <p:cNvPr id="10" name="Picture 9">
            <a:extLst>
              <a:ext uri="{FF2B5EF4-FFF2-40B4-BE49-F238E27FC236}">
                <a16:creationId xmlns:a16="http://schemas.microsoft.com/office/drawing/2014/main" id="{F8DD9D09-C77D-7537-1B58-57E2B5A8B51E}"/>
              </a:ext>
            </a:extLst>
          </p:cNvPr>
          <p:cNvPicPr>
            <a:picLocks noChangeAspect="1"/>
          </p:cNvPicPr>
          <p:nvPr/>
        </p:nvPicPr>
        <p:blipFill>
          <a:blip r:embed="rId4"/>
          <a:stretch>
            <a:fillRect/>
          </a:stretch>
        </p:blipFill>
        <p:spPr>
          <a:xfrm>
            <a:off x="9687399" y="2296985"/>
            <a:ext cx="2083505" cy="2904280"/>
          </a:xfrm>
          <a:prstGeom prst="rect">
            <a:avLst/>
          </a:prstGeom>
        </p:spPr>
      </p:pic>
    </p:spTree>
    <p:extLst>
      <p:ext uri="{BB962C8B-B14F-4D97-AF65-F5344CB8AC3E}">
        <p14:creationId xmlns:p14="http://schemas.microsoft.com/office/powerpoint/2010/main" val="44959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C999-1D95-7F7A-CD0F-AD1BDC037A7C}"/>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E1F7AD5F-E2D5-C73C-3D2D-A089856A25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BF13ACDA-DB72-51C7-D90F-433EB0266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40AAC42-4D7D-B596-8B1A-60D79F3E279A}"/>
              </a:ext>
            </a:extLst>
          </p:cNvPr>
          <p:cNvSpPr txBox="1"/>
          <p:nvPr/>
        </p:nvSpPr>
        <p:spPr>
          <a:xfrm>
            <a:off x="2925142" y="240585"/>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STREAMING DATA PROCESSING</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DB2392E-E088-4D20-6252-26D2CA2B08CC}"/>
              </a:ext>
            </a:extLst>
          </p:cNvPr>
          <p:cNvSpPr txBox="1"/>
          <p:nvPr/>
        </p:nvSpPr>
        <p:spPr>
          <a:xfrm>
            <a:off x="737419" y="1770709"/>
            <a:ext cx="12123174" cy="1246495"/>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Traffic data is generated continuously.</a:t>
            </a:r>
          </a:p>
          <a:p>
            <a:pPr>
              <a:lnSpc>
                <a:spcPct val="150000"/>
              </a:lnSpc>
            </a:pPr>
            <a:r>
              <a:rPr lang="en-IN" b="1" dirty="0">
                <a:latin typeface="Times New Roman" panose="02020603050405020304" pitchFamily="18" charset="0"/>
                <a:cs typeface="Times New Roman" panose="02020603050405020304" pitchFamily="18" charset="0"/>
              </a:rPr>
              <a:t>Process:</a:t>
            </a:r>
          </a:p>
          <a:p>
            <a:r>
              <a:rPr lang="en-IN" dirty="0">
                <a:latin typeface="Times New Roman" panose="02020603050405020304" pitchFamily="18" charset="0"/>
                <a:cs typeface="Times New Roman" panose="02020603050405020304" pitchFamily="18" charset="0"/>
              </a:rPr>
              <a:t>Sensor Data      </a:t>
            </a:r>
            <a:r>
              <a:rPr lang="en-IN" dirty="0" err="1">
                <a:latin typeface="Times New Roman" panose="02020603050405020304" pitchFamily="18" charset="0"/>
                <a:cs typeface="Times New Roman" panose="02020603050405020304" pitchFamily="18" charset="0"/>
              </a:rPr>
              <a:t>Data</a:t>
            </a:r>
            <a:r>
              <a:rPr lang="en-IN" dirty="0">
                <a:latin typeface="Times New Roman" panose="02020603050405020304" pitchFamily="18" charset="0"/>
                <a:cs typeface="Times New Roman" panose="02020603050405020304" pitchFamily="18" charset="0"/>
              </a:rPr>
              <a:t> Stream       Real-Time Processing       Traffic Analysis       Agent Decision       Signal Update</a:t>
            </a:r>
          </a:p>
        </p:txBody>
      </p:sp>
      <p:cxnSp>
        <p:nvCxnSpPr>
          <p:cNvPr id="8" name="Straight Arrow Connector 7">
            <a:extLst>
              <a:ext uri="{FF2B5EF4-FFF2-40B4-BE49-F238E27FC236}">
                <a16:creationId xmlns:a16="http://schemas.microsoft.com/office/drawing/2014/main" id="{DB15861F-2330-7D4D-5C75-D5BEEC5C1F5F}"/>
              </a:ext>
            </a:extLst>
          </p:cNvPr>
          <p:cNvCxnSpPr>
            <a:cxnSpLocks/>
          </p:cNvCxnSpPr>
          <p:nvPr/>
        </p:nvCxnSpPr>
        <p:spPr>
          <a:xfrm>
            <a:off x="1986120" y="2841528"/>
            <a:ext cx="2556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3D3EA36E-E1DC-14BF-0537-C1573E362DF8}"/>
              </a:ext>
            </a:extLst>
          </p:cNvPr>
          <p:cNvCxnSpPr>
            <a:cxnSpLocks/>
          </p:cNvCxnSpPr>
          <p:nvPr/>
        </p:nvCxnSpPr>
        <p:spPr>
          <a:xfrm>
            <a:off x="3475706" y="2831684"/>
            <a:ext cx="2556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CE2C852-B218-3186-C4E9-45CD3DBFEBC7}"/>
              </a:ext>
            </a:extLst>
          </p:cNvPr>
          <p:cNvCxnSpPr>
            <a:cxnSpLocks/>
          </p:cNvCxnSpPr>
          <p:nvPr/>
        </p:nvCxnSpPr>
        <p:spPr>
          <a:xfrm>
            <a:off x="5933765" y="2841528"/>
            <a:ext cx="2556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B2922D73-BBDD-DAA3-A68C-012F3F6D12DC}"/>
              </a:ext>
            </a:extLst>
          </p:cNvPr>
          <p:cNvCxnSpPr>
            <a:cxnSpLocks/>
          </p:cNvCxnSpPr>
          <p:nvPr/>
        </p:nvCxnSpPr>
        <p:spPr>
          <a:xfrm>
            <a:off x="7782232" y="2841521"/>
            <a:ext cx="2556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9867413C-0968-F3F6-7503-4899C9F46AED}"/>
              </a:ext>
            </a:extLst>
          </p:cNvPr>
          <p:cNvCxnSpPr>
            <a:cxnSpLocks/>
          </p:cNvCxnSpPr>
          <p:nvPr/>
        </p:nvCxnSpPr>
        <p:spPr>
          <a:xfrm>
            <a:off x="9591362" y="2841523"/>
            <a:ext cx="25563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32D25F8C-A755-FA4B-F8CA-BF3E8F07C594}"/>
              </a:ext>
            </a:extLst>
          </p:cNvPr>
          <p:cNvSpPr txBox="1"/>
          <p:nvPr/>
        </p:nvSpPr>
        <p:spPr>
          <a:xfrm>
            <a:off x="737419" y="3349523"/>
            <a:ext cx="6430296" cy="3730317"/>
          </a:xfrm>
          <a:prstGeom prst="rect">
            <a:avLst/>
          </a:prstGeom>
          <a:noFill/>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Key Features: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Continuous data processing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response time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decision making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Handles rapidly changing traffic conditions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Avoids waiting for large batches of data</a:t>
            </a:r>
          </a:p>
          <a:p>
            <a:pPr>
              <a:lnSpc>
                <a:spcPct val="150000"/>
              </a:lnSpc>
            </a:pP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5562E2F7-68D4-F9F7-84E5-F352387CA3CF}"/>
              </a:ext>
            </a:extLst>
          </p:cNvPr>
          <p:cNvPicPr>
            <a:picLocks noChangeAspect="1"/>
          </p:cNvPicPr>
          <p:nvPr/>
        </p:nvPicPr>
        <p:blipFill>
          <a:blip r:embed="rId4"/>
          <a:stretch>
            <a:fillRect/>
          </a:stretch>
        </p:blipFill>
        <p:spPr>
          <a:xfrm>
            <a:off x="8922819" y="3329089"/>
            <a:ext cx="2053469" cy="3288326"/>
          </a:xfrm>
          <a:prstGeom prst="rect">
            <a:avLst/>
          </a:prstGeom>
        </p:spPr>
      </p:pic>
    </p:spTree>
    <p:extLst>
      <p:ext uri="{BB962C8B-B14F-4D97-AF65-F5344CB8AC3E}">
        <p14:creationId xmlns:p14="http://schemas.microsoft.com/office/powerpoint/2010/main" val="3287798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1E9C-1D5A-123A-BCC1-EEA3C57BE41E}"/>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BF9B9B8E-202A-0B0F-F7E3-2EC74D2C88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5634D851-3B31-5559-9114-FD2C9DC023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0248A17-B313-99D0-1C78-22B612038688}"/>
              </a:ext>
            </a:extLst>
          </p:cNvPr>
          <p:cNvSpPr txBox="1"/>
          <p:nvPr/>
        </p:nvSpPr>
        <p:spPr>
          <a:xfrm>
            <a:off x="2925142" y="240585"/>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SIGNAL CONTROL ALGORITHM</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A057E28-1447-FA84-1EB2-247C9949F793}"/>
              </a:ext>
            </a:extLst>
          </p:cNvPr>
          <p:cNvSpPr txBox="1"/>
          <p:nvPr/>
        </p:nvSpPr>
        <p:spPr>
          <a:xfrm>
            <a:off x="1809135" y="1037584"/>
            <a:ext cx="6096000" cy="5444054"/>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Basic Algorithm:</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Read traffic data.</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Calculate traffic density for each lane.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Compare density with threshold values.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Identify the most congested lane.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Adjust green-signal duration.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 safe yellow/red intervals.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Monitor traffic again.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Repeat continuously.</a:t>
            </a:r>
          </a:p>
          <a:p>
            <a:pPr>
              <a:lnSpc>
                <a:spcPct val="150000"/>
              </a:lnSpc>
            </a:pPr>
            <a:r>
              <a:rPr lang="en-US" b="1" dirty="0">
                <a:latin typeface="Times New Roman" panose="02020603050405020304" pitchFamily="18" charset="0"/>
                <a:cs typeface="Times New Roman" panose="02020603050405020304" pitchFamily="18" charset="0"/>
              </a:rPr>
              <a:t>Example: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Density → Longer Green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Density → Shorter Green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Emergency → Immediate Priority</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700AB42-2AD0-F7AF-3161-BAC038FB9C25}"/>
              </a:ext>
            </a:extLst>
          </p:cNvPr>
          <p:cNvPicPr>
            <a:picLocks noChangeAspect="1"/>
          </p:cNvPicPr>
          <p:nvPr/>
        </p:nvPicPr>
        <p:blipFill>
          <a:blip r:embed="rId4"/>
          <a:stretch>
            <a:fillRect/>
          </a:stretch>
        </p:blipFill>
        <p:spPr>
          <a:xfrm>
            <a:off x="8228935" y="1870353"/>
            <a:ext cx="1996613" cy="3117294"/>
          </a:xfrm>
          <a:prstGeom prst="rect">
            <a:avLst/>
          </a:prstGeom>
        </p:spPr>
      </p:pic>
    </p:spTree>
    <p:extLst>
      <p:ext uri="{BB962C8B-B14F-4D97-AF65-F5344CB8AC3E}">
        <p14:creationId xmlns:p14="http://schemas.microsoft.com/office/powerpoint/2010/main" val="4120330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6344-07CB-AD3A-C88D-64211A396E9D}"/>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B1483257-698E-E265-5ABE-5E2878497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3B93EF65-8743-34A5-3197-93AE90D55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7C8595C-EB4D-3E9D-FCB0-24AD9DEA44C7}"/>
              </a:ext>
            </a:extLst>
          </p:cNvPr>
          <p:cNvSpPr txBox="1"/>
          <p:nvPr/>
        </p:nvSpPr>
        <p:spPr>
          <a:xfrm>
            <a:off x="2925142" y="240585"/>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MINIMIZING CONGESTION</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0CA9DF7-D879-0EBB-BB3B-3635B3FEA25D}"/>
              </a:ext>
            </a:extLst>
          </p:cNvPr>
          <p:cNvSpPr txBox="1"/>
          <p:nvPr/>
        </p:nvSpPr>
        <p:spPr>
          <a:xfrm>
            <a:off x="1976284" y="1160316"/>
            <a:ext cx="6096000" cy="6275051"/>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The system reduces congestion by: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Dynamically allocating green time.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Reducing unnecessary waiting.</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Prioritizing heavily congested roads.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Detecting abnormal traffic conditions quickly.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Providing emergency vehicle priority.</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Continuously adapting to changing traffic patterns.</a:t>
            </a:r>
          </a:p>
          <a:p>
            <a:pPr>
              <a:lnSpc>
                <a:spcPct val="150000"/>
              </a:lnSpc>
            </a:pPr>
            <a:r>
              <a:rPr lang="en-IN" b="1" dirty="0">
                <a:latin typeface="Times New Roman" panose="02020603050405020304" pitchFamily="18" charset="0"/>
                <a:cs typeface="Times New Roman" panose="02020603050405020304" pitchFamily="18" charset="0"/>
              </a:rPr>
              <a:t>Expected Results:</a:t>
            </a:r>
          </a:p>
          <a:p>
            <a:pPr>
              <a:lnSpc>
                <a:spcPct val="150000"/>
              </a:lnSpc>
            </a:pPr>
            <a:r>
              <a:rPr lang="en-IN" dirty="0">
                <a:latin typeface="Times New Roman" panose="02020603050405020304" pitchFamily="18" charset="0"/>
                <a:cs typeface="Times New Roman" panose="02020603050405020304" pitchFamily="18" charset="0"/>
              </a:rPr>
              <a:t>↓ Waiting Time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Queue Length</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Traffic Congestion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Fuel Consumption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Traffic Flow</a:t>
            </a:r>
          </a:p>
          <a:p>
            <a:pPr>
              <a:lnSpc>
                <a:spcPct val="150000"/>
              </a:lnSpc>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8A9338C-35B2-9DCF-3BA3-C4E1E5F3EA59}"/>
              </a:ext>
            </a:extLst>
          </p:cNvPr>
          <p:cNvPicPr>
            <a:picLocks noChangeAspect="1"/>
          </p:cNvPicPr>
          <p:nvPr/>
        </p:nvPicPr>
        <p:blipFill>
          <a:blip r:embed="rId4"/>
          <a:stretch>
            <a:fillRect/>
          </a:stretch>
        </p:blipFill>
        <p:spPr>
          <a:xfrm>
            <a:off x="8811488" y="2084726"/>
            <a:ext cx="2475944" cy="3494617"/>
          </a:xfrm>
          <a:prstGeom prst="rect">
            <a:avLst/>
          </a:prstGeom>
        </p:spPr>
      </p:pic>
    </p:spTree>
    <p:extLst>
      <p:ext uri="{BB962C8B-B14F-4D97-AF65-F5344CB8AC3E}">
        <p14:creationId xmlns:p14="http://schemas.microsoft.com/office/powerpoint/2010/main" val="443190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7EC06-CF00-D0A4-57EC-605115C7CA28}"/>
            </a:ext>
          </a:extLst>
        </p:cNvPr>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2A3BA789-B8D9-374F-0019-A09686D0D7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987C9B6E-DEAD-0430-3267-B805FCFD6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7B89DA3-776A-7265-5AA5-81A393780214}"/>
              </a:ext>
            </a:extLst>
          </p:cNvPr>
          <p:cNvSpPr txBox="1"/>
          <p:nvPr/>
        </p:nvSpPr>
        <p:spPr>
          <a:xfrm>
            <a:off x="2925142" y="240585"/>
            <a:ext cx="6096000"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CONCLUSION &amp; FUTURE SCOPE</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479DFDF-00D7-E9FA-7546-AE961C8F3A76}"/>
              </a:ext>
            </a:extLst>
          </p:cNvPr>
          <p:cNvSpPr txBox="1"/>
          <p:nvPr/>
        </p:nvSpPr>
        <p:spPr>
          <a:xfrm>
            <a:off x="1582994" y="1074370"/>
            <a:ext cx="6096000" cy="5444054"/>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Conclusion: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real-time traffic information.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Makes fast decisions using reactive rules.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Dynamically controls traffic signals.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Continuously adapts to changing traffic conditions.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minimize congestion and waiting time.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Can be integrated with IoT sensors and streaming platforms.</a:t>
            </a:r>
          </a:p>
          <a:p>
            <a:pPr>
              <a:lnSpc>
                <a:spcPct val="150000"/>
              </a:lnSpc>
            </a:pPr>
            <a:r>
              <a:rPr lang="en-US" b="1" dirty="0">
                <a:latin typeface="Times New Roman" panose="02020603050405020304" pitchFamily="18" charset="0"/>
                <a:cs typeface="Times New Roman" panose="02020603050405020304" pitchFamily="18" charset="0"/>
              </a:rPr>
              <a:t>Future Scope: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AI-based traffic prediction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Connected vehicles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 emergency detection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Multi-intersection coordination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Smart-city-wide traffic optimization</a:t>
            </a:r>
          </a:p>
        </p:txBody>
      </p:sp>
      <p:pic>
        <p:nvPicPr>
          <p:cNvPr id="8" name="Picture 7">
            <a:extLst>
              <a:ext uri="{FF2B5EF4-FFF2-40B4-BE49-F238E27FC236}">
                <a16:creationId xmlns:a16="http://schemas.microsoft.com/office/drawing/2014/main" id="{16931F44-9617-587D-D814-44057F9BE3EB}"/>
              </a:ext>
            </a:extLst>
          </p:cNvPr>
          <p:cNvPicPr>
            <a:picLocks noChangeAspect="1"/>
          </p:cNvPicPr>
          <p:nvPr/>
        </p:nvPicPr>
        <p:blipFill>
          <a:blip r:embed="rId4"/>
          <a:stretch>
            <a:fillRect/>
          </a:stretch>
        </p:blipFill>
        <p:spPr>
          <a:xfrm>
            <a:off x="9202940" y="2177016"/>
            <a:ext cx="2084491" cy="3165819"/>
          </a:xfrm>
          <a:prstGeom prst="rect">
            <a:avLst/>
          </a:prstGeom>
        </p:spPr>
      </p:pic>
    </p:spTree>
    <p:extLst>
      <p:ext uri="{BB962C8B-B14F-4D97-AF65-F5344CB8AC3E}">
        <p14:creationId xmlns:p14="http://schemas.microsoft.com/office/powerpoint/2010/main" val="673389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aveetha School of Engineering: Courses, Admission 2025, Fees, Scholarship,  Placements, Ranking">
            <a:extLst>
              <a:ext uri="{FF2B5EF4-FFF2-40B4-BE49-F238E27FC236}">
                <a16:creationId xmlns:a16="http://schemas.microsoft.com/office/drawing/2014/main" id="{AE0A0205-9FAD-2A5F-CD61-B582E9901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652" y="61258"/>
            <a:ext cx="1011121" cy="133096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aveetha Institute of Medical and Technical Sciences -SIMATS | Chennai">
            <a:extLst>
              <a:ext uri="{FF2B5EF4-FFF2-40B4-BE49-F238E27FC236}">
                <a16:creationId xmlns:a16="http://schemas.microsoft.com/office/drawing/2014/main" id="{F16861B7-D5AA-DA38-6823-3F01CF9A6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7511" y="135387"/>
            <a:ext cx="1256837" cy="12568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52B91D9-1CDB-7B18-5A8D-51D32E489000}"/>
              </a:ext>
            </a:extLst>
          </p:cNvPr>
          <p:cNvPicPr>
            <a:picLocks noChangeAspect="1"/>
          </p:cNvPicPr>
          <p:nvPr/>
        </p:nvPicPr>
        <p:blipFill>
          <a:blip r:embed="rId4"/>
          <a:stretch>
            <a:fillRect/>
          </a:stretch>
        </p:blipFill>
        <p:spPr>
          <a:xfrm>
            <a:off x="2572206" y="932471"/>
            <a:ext cx="7047587" cy="4993057"/>
          </a:xfrm>
          <a:prstGeom prst="rect">
            <a:avLst/>
          </a:prstGeom>
        </p:spPr>
      </p:pic>
    </p:spTree>
    <p:extLst>
      <p:ext uri="{BB962C8B-B14F-4D97-AF65-F5344CB8AC3E}">
        <p14:creationId xmlns:p14="http://schemas.microsoft.com/office/powerpoint/2010/main" val="1595437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TotalTime>
  <Words>753</Words>
  <Application>Microsoft Office PowerPoint</Application>
  <PresentationFormat>Widescreen</PresentationFormat>
  <Paragraphs>135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Harish S</cp:lastModifiedBy>
  <cp:revision>3</cp:revision>
  <dcterms:created xsi:type="dcterms:W3CDTF">2013-01-27T09:14:16Z</dcterms:created>
  <dcterms:modified xsi:type="dcterms:W3CDTF">2026-08-26T16:07:47Z</dcterms:modified>
  <cp:category/>
</cp:coreProperties>
</file>